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8FF37-A034-47AC-BA3F-42ABE733C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BD30B9-2D65-423C-8BC4-100AB465D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431A3-F487-40FE-BA49-412C747DF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554C-BBA9-4350-A918-3463A12D7A8A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9A8A5-E380-433D-AEE9-35E75382A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784B0-6159-4D03-92DB-5F4640C5D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E4007-4E22-465C-927D-DB2299C2B9B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852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1ABED-35C2-44F0-BD64-06AE67EE9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3CBD0-3CD8-49B5-9438-632161911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9E8A3-5C91-45D2-86DE-10F17F721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554C-BBA9-4350-A918-3463A12D7A8A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1C0F6-5238-4E0B-A5E2-CC1DFFD36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A7BC8-6303-4070-8291-53907594F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E4007-4E22-465C-927D-DB2299C2B9B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369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521E6-AEA2-46E9-BEA4-E23D945D8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8EA21-B142-471D-937D-AB487BC63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5579F-1835-4ACB-8CC6-49887B30F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554C-BBA9-4350-A918-3463A12D7A8A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D4FD7-F580-415F-9049-949AD7F5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83EA3-51A8-4680-9E49-EA1FA793D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E4007-4E22-465C-927D-DB2299C2B9B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146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F549D-6D0C-496F-9D6D-D5E617BAB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00282-18C4-44AF-AEFF-DA55BC314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C08F8-8A52-475D-824D-C82945FFA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040DB-0D6C-4EB5-9EA2-07A111BAC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554C-BBA9-4350-A918-3463A12D7A8A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51AF9-1FAE-4CF1-857F-ED2289CCF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8D1E8-8104-498B-8217-7855E14D4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E4007-4E22-465C-927D-DB2299C2B9B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4771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72C1C-13C6-4B88-9256-A0EF7F1AE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8EC45-175F-4D1A-BB60-3D6DA5B86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CF98A1-A7E7-41CD-968F-B9791BDF7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9A3011-2076-40D5-ABF3-B0E8FC8964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59A89C-B264-4B65-B007-E4A848E00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C8CF01-1371-4FFB-BEB3-DD43D4F3C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554C-BBA9-4350-A918-3463A12D7A8A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231004-0134-4515-B213-8C1E6E77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21CD47-8598-4056-871C-07CDABDE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E4007-4E22-465C-927D-DB2299C2B9B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7124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339A2-A460-4A2B-B337-A31E9DEF0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A30923-F66A-472B-B302-529F5C317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554C-BBA9-4350-A918-3463A12D7A8A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6ABE71-F1C1-403D-B53D-996F6FB3A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C6394A-056F-4171-917F-637FE4DBD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E4007-4E22-465C-927D-DB2299C2B9B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6526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8C683A-1841-469F-8A4D-1E9A7D6FC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554C-BBA9-4350-A918-3463A12D7A8A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A48803-8092-40E1-AB39-E1107006D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432FA-F313-4C13-A5DA-127F2085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E4007-4E22-465C-927D-DB2299C2B9B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8297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AB72-BD37-4BCD-A76F-F4EA505FD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F38DC-5A1F-407E-A7F7-7CF783757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189AAA-E500-4647-BB84-6360507F6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7656A-855F-4D89-A3CD-47D3DF90F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554C-BBA9-4350-A918-3463A12D7A8A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B7674-B154-40A0-87E2-E3A20ADE1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F4DAB-087E-4C0A-BEE7-EB74E2925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E4007-4E22-465C-927D-DB2299C2B9B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797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61960-5D8C-4AAD-88AC-07D021D23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FE6EA1-B1A7-4A64-B7E7-D3569EC482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2EF40-6A0E-4D52-A1C4-7961E4234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606D3-BC96-4FAF-838F-4260378E8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554C-BBA9-4350-A918-3463A12D7A8A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53A53-75E6-4FD2-AC3E-FA9F7608A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BC640-8391-4E45-BD9F-E9343E360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E4007-4E22-465C-927D-DB2299C2B9B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0642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589D-2BCC-4854-98A3-024A98539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0B802-E9ED-4407-BA89-E3A4B522BB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DABE7-F6E0-4EEF-AEC9-2A1DF8968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554C-BBA9-4350-A918-3463A12D7A8A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352C2-634A-4401-9B32-141889E6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A5C93-6491-47C8-8C23-B386C80A0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E4007-4E22-465C-927D-DB2299C2B9B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730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90DD76-C371-4AA5-9373-FA91930D6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413579-679C-4BB1-A2B6-D04AB69AE5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F4DB8-0DDD-48E1-AAF3-CB43B58F4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554C-BBA9-4350-A918-3463A12D7A8A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3B635-363B-4D36-9991-CFF30FE22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72878-E341-48A6-BB9A-8B3C9F200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E4007-4E22-465C-927D-DB2299C2B9B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5231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4DEAA2-20B8-45BF-BE12-42AC4CC46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90B19-C58B-4FB4-BD3C-6B8E61ED1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D3234-9EB8-403D-9992-A9C8130A7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0554C-BBA9-4350-A918-3463A12D7A8A}" type="datetimeFigureOut">
              <a:rPr lang="de-DE" smtClean="0"/>
              <a:t>16.08.2023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1039A-DD02-448F-992A-2A07D712A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306C2-6857-4FEC-8694-5A692F6F9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E4007-4E22-465C-927D-DB2299C2B9B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9142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5ACD0-3B45-437F-B1C9-975034F2C6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PM </a:t>
            </a:r>
            <a:r>
              <a:rPr lang="de-DE" dirty="0" err="1"/>
              <a:t>by</a:t>
            </a:r>
            <a:r>
              <a:rPr lang="de-DE" dirty="0"/>
              <a:t> SPS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A0CCF-DEE5-418E-8BA4-84A7D6E27B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Sample </a:t>
            </a:r>
            <a:r>
              <a:rPr lang="de-DE" dirty="0" err="1"/>
              <a:t>list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2802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3727C-01D5-43EA-91C5-D089AD8A2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Pure MQU F </a:t>
            </a:r>
            <a:r>
              <a:rPr lang="de-DE" dirty="0" err="1"/>
              <a:t>samples</a:t>
            </a:r>
            <a:endParaRPr lang="de-DE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9FAA088-719C-46C2-86CE-35261A9C97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7573930"/>
              </p:ext>
            </p:extLst>
          </p:nvPr>
        </p:nvGraphicFramePr>
        <p:xfrm>
          <a:off x="838200" y="1825625"/>
          <a:ext cx="10515600" cy="4461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481">
                  <a:extLst>
                    <a:ext uri="{9D8B030D-6E8A-4147-A177-3AD203B41FA5}">
                      <a16:colId xmlns:a16="http://schemas.microsoft.com/office/drawing/2014/main" val="4050112255"/>
                    </a:ext>
                  </a:extLst>
                </a:gridCol>
                <a:gridCol w="805343">
                  <a:extLst>
                    <a:ext uri="{9D8B030D-6E8A-4147-A177-3AD203B41FA5}">
                      <a16:colId xmlns:a16="http://schemas.microsoft.com/office/drawing/2014/main" val="2149293014"/>
                    </a:ext>
                  </a:extLst>
                </a:gridCol>
                <a:gridCol w="625431">
                  <a:extLst>
                    <a:ext uri="{9D8B030D-6E8A-4147-A177-3AD203B41FA5}">
                      <a16:colId xmlns:a16="http://schemas.microsoft.com/office/drawing/2014/main" val="1422494592"/>
                    </a:ext>
                  </a:extLst>
                </a:gridCol>
                <a:gridCol w="2663053">
                  <a:extLst>
                    <a:ext uri="{9D8B030D-6E8A-4147-A177-3AD203B41FA5}">
                      <a16:colId xmlns:a16="http://schemas.microsoft.com/office/drawing/2014/main" val="453492073"/>
                    </a:ext>
                  </a:extLst>
                </a:gridCol>
                <a:gridCol w="6102292">
                  <a:extLst>
                    <a:ext uri="{9D8B030D-6E8A-4147-A177-3AD203B41FA5}">
                      <a16:colId xmlns:a16="http://schemas.microsoft.com/office/drawing/2014/main" val="2417067486"/>
                    </a:ext>
                  </a:extLst>
                </a:gridCol>
              </a:tblGrid>
              <a:tr h="285997">
                <a:tc>
                  <a:txBody>
                    <a:bodyPr/>
                    <a:lstStyle/>
                    <a:p>
                      <a:r>
                        <a:rPr lang="de-DE" sz="800" dirty="0"/>
                        <a:t>Sample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HC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HD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notes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179406"/>
                  </a:ext>
                </a:extLst>
              </a:tr>
              <a:tr h="285997">
                <a:tc>
                  <a:txBody>
                    <a:bodyPr/>
                    <a:lstStyle/>
                    <a:p>
                      <a:r>
                        <a:rPr lang="de-DE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Ref</a:t>
                      </a:r>
                      <a:r>
                        <a:rPr lang="de-DE" sz="1000" dirty="0"/>
                        <a:t>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115727"/>
                  </a:ext>
                </a:extLst>
              </a:tr>
              <a:tr h="285997">
                <a:tc>
                  <a:txBody>
                    <a:bodyPr/>
                    <a:lstStyle/>
                    <a:p>
                      <a:r>
                        <a:rPr lang="de-DE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50MPa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852336"/>
                  </a:ext>
                </a:extLst>
              </a:tr>
              <a:tr h="285997">
                <a:tc>
                  <a:txBody>
                    <a:bodyPr/>
                    <a:lstStyle/>
                    <a:p>
                      <a:r>
                        <a:rPr lang="de-DE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60 MPa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307775"/>
                  </a:ext>
                </a:extLst>
              </a:tr>
              <a:tr h="285997">
                <a:tc>
                  <a:txBody>
                    <a:bodyPr/>
                    <a:lstStyle/>
                    <a:p>
                      <a:r>
                        <a:rPr lang="de-DE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70 MPa, </a:t>
                      </a:r>
                      <a:r>
                        <a:rPr lang="de-DE" sz="1000" dirty="0" err="1"/>
                        <a:t>Temp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contorl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issue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019597"/>
                  </a:ext>
                </a:extLst>
              </a:tr>
              <a:tr h="285997">
                <a:tc>
                  <a:txBody>
                    <a:bodyPr/>
                    <a:lstStyle/>
                    <a:p>
                      <a:r>
                        <a:rPr lang="de-DE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70 MPa, </a:t>
                      </a:r>
                      <a:r>
                        <a:rPr lang="de-DE" sz="1000" dirty="0" err="1"/>
                        <a:t>Temp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contorl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issue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012919"/>
                  </a:ext>
                </a:extLst>
              </a:tr>
              <a:tr h="285997">
                <a:tc>
                  <a:txBody>
                    <a:bodyPr/>
                    <a:lstStyle/>
                    <a:p>
                      <a:r>
                        <a:rPr lang="de-DE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Best sample, 70 MPa, 75°C/min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260098"/>
                  </a:ext>
                </a:extLst>
              </a:tr>
              <a:tr h="285997">
                <a:tc>
                  <a:txBody>
                    <a:bodyPr/>
                    <a:lstStyle/>
                    <a:p>
                      <a:r>
                        <a:rPr lang="de-DE" sz="1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70 MPa, </a:t>
                      </a:r>
                      <a:r>
                        <a:rPr lang="de-DE" sz="1000" dirty="0" err="1"/>
                        <a:t>temp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ramp</a:t>
                      </a:r>
                      <a:r>
                        <a:rPr lang="de-DE" sz="1000" dirty="0"/>
                        <a:t> 50°C/min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385692"/>
                  </a:ext>
                </a:extLst>
              </a:tr>
              <a:tr h="285997">
                <a:tc>
                  <a:txBody>
                    <a:bodyPr/>
                    <a:lstStyle/>
                    <a:p>
                      <a:r>
                        <a:rPr lang="de-DE" sz="1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70 MPa, </a:t>
                      </a:r>
                      <a:r>
                        <a:rPr lang="de-DE" sz="1000" dirty="0" err="1"/>
                        <a:t>temp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ramp</a:t>
                      </a:r>
                      <a:r>
                        <a:rPr lang="de-DE" sz="1000" dirty="0"/>
                        <a:t> 75°C/min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418918"/>
                  </a:ext>
                </a:extLst>
              </a:tr>
              <a:tr h="285997">
                <a:tc>
                  <a:txBody>
                    <a:bodyPr/>
                    <a:lstStyle/>
                    <a:p>
                      <a:r>
                        <a:rPr lang="de-DE" sz="10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70 MPa, </a:t>
                      </a:r>
                      <a:r>
                        <a:rPr lang="de-DE" sz="1000" dirty="0" err="1"/>
                        <a:t>temp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ramp</a:t>
                      </a:r>
                      <a:r>
                        <a:rPr lang="de-DE" sz="1000" dirty="0"/>
                        <a:t> 100°C/min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7217744"/>
                  </a:ext>
                </a:extLst>
              </a:tr>
              <a:tr h="285997">
                <a:tc>
                  <a:txBody>
                    <a:bodyPr/>
                    <a:lstStyle/>
                    <a:p>
                      <a:r>
                        <a:rPr lang="de-DE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Test </a:t>
                      </a:r>
                      <a:r>
                        <a:rPr lang="de-DE" sz="1000" dirty="0" err="1"/>
                        <a:t>for</a:t>
                      </a:r>
                      <a:r>
                        <a:rPr lang="de-DE" sz="1000" dirty="0"/>
                        <a:t> 80 MPa, HC sample was </a:t>
                      </a:r>
                      <a:r>
                        <a:rPr lang="de-DE" sz="1000" dirty="0" err="1"/>
                        <a:t>cracked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966066"/>
                  </a:ext>
                </a:extLst>
              </a:tr>
              <a:tr h="285997">
                <a:tc>
                  <a:txBody>
                    <a:bodyPr/>
                    <a:lstStyle/>
                    <a:p>
                      <a:r>
                        <a:rPr lang="de-DE" sz="1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Test </a:t>
                      </a:r>
                      <a:r>
                        <a:rPr lang="de-DE" sz="1000" dirty="0" err="1"/>
                        <a:t>for</a:t>
                      </a:r>
                      <a:r>
                        <a:rPr lang="de-DE" sz="1000" dirty="0"/>
                        <a:t> 80 MPa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175402"/>
                  </a:ext>
                </a:extLst>
              </a:tr>
              <a:tr h="285997">
                <a:tc>
                  <a:txBody>
                    <a:bodyPr/>
                    <a:lstStyle/>
                    <a:p>
                      <a:r>
                        <a:rPr lang="de-DE" sz="1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Test </a:t>
                      </a:r>
                      <a:r>
                        <a:rPr lang="de-DE" sz="1000" dirty="0" err="1"/>
                        <a:t>for</a:t>
                      </a:r>
                      <a:r>
                        <a:rPr lang="de-DE" sz="1000" dirty="0"/>
                        <a:t> 80 MPa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178216"/>
                  </a:ext>
                </a:extLst>
              </a:tr>
              <a:tr h="285997">
                <a:tc>
                  <a:txBody>
                    <a:bodyPr/>
                    <a:lstStyle/>
                    <a:p>
                      <a:r>
                        <a:rPr lang="de-DE" sz="10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Test </a:t>
                      </a:r>
                      <a:r>
                        <a:rPr lang="de-DE" sz="1000" dirty="0" err="1"/>
                        <a:t>for</a:t>
                      </a:r>
                      <a:r>
                        <a:rPr lang="de-DE" sz="1000" dirty="0"/>
                        <a:t> 80 MPa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56627"/>
                  </a:ext>
                </a:extLst>
              </a:tr>
              <a:tr h="285997">
                <a:tc gridSpan="5">
                  <a:txBody>
                    <a:bodyPr/>
                    <a:lstStyle/>
                    <a:p>
                      <a:r>
                        <a:rPr lang="de-DE" sz="1000" dirty="0"/>
                        <a:t>All </a:t>
                      </a:r>
                      <a:r>
                        <a:rPr lang="de-DE" sz="1000" dirty="0" err="1"/>
                        <a:t>results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are</a:t>
                      </a:r>
                      <a:r>
                        <a:rPr lang="de-DE" sz="1000" dirty="0"/>
                        <a:t> in </a:t>
                      </a:r>
                      <a:r>
                        <a:rPr lang="de-DE" sz="1000" dirty="0" err="1"/>
                        <a:t>the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presentation</a:t>
                      </a:r>
                      <a:r>
                        <a:rPr lang="de-DE" sz="1000" dirty="0"/>
                        <a:t> </a:t>
                      </a:r>
                      <a:r>
                        <a:rPr lang="en-US" sz="1000" dirty="0"/>
                        <a:t>HC_and_HD_magnets_by_SPS_1.pptx </a:t>
                      </a:r>
                      <a:r>
                        <a:rPr lang="de-DE" sz="1000" dirty="0"/>
                        <a:t>Part I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876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7638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B216-627D-4682-BF53-FB825A78C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Mixed MQUF + 01072023 Samples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B12F77-CA3C-4036-A3FC-4D61A474F0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5430905"/>
              </p:ext>
            </p:extLst>
          </p:nvPr>
        </p:nvGraphicFramePr>
        <p:xfrm>
          <a:off x="838200" y="2140340"/>
          <a:ext cx="9272911" cy="2397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932">
                  <a:extLst>
                    <a:ext uri="{9D8B030D-6E8A-4147-A177-3AD203B41FA5}">
                      <a16:colId xmlns:a16="http://schemas.microsoft.com/office/drawing/2014/main" val="2922457568"/>
                    </a:ext>
                  </a:extLst>
                </a:gridCol>
                <a:gridCol w="1700526">
                  <a:extLst>
                    <a:ext uri="{9D8B030D-6E8A-4147-A177-3AD203B41FA5}">
                      <a16:colId xmlns:a16="http://schemas.microsoft.com/office/drawing/2014/main" val="3775320621"/>
                    </a:ext>
                  </a:extLst>
                </a:gridCol>
                <a:gridCol w="1794459">
                  <a:extLst>
                    <a:ext uri="{9D8B030D-6E8A-4147-A177-3AD203B41FA5}">
                      <a16:colId xmlns:a16="http://schemas.microsoft.com/office/drawing/2014/main" val="3544006182"/>
                    </a:ext>
                  </a:extLst>
                </a:gridCol>
                <a:gridCol w="1794459">
                  <a:extLst>
                    <a:ext uri="{9D8B030D-6E8A-4147-A177-3AD203B41FA5}">
                      <a16:colId xmlns:a16="http://schemas.microsoft.com/office/drawing/2014/main" val="241546626"/>
                    </a:ext>
                  </a:extLst>
                </a:gridCol>
                <a:gridCol w="1794459">
                  <a:extLst>
                    <a:ext uri="{9D8B030D-6E8A-4147-A177-3AD203B41FA5}">
                      <a16:colId xmlns:a16="http://schemas.microsoft.com/office/drawing/2014/main" val="241509179"/>
                    </a:ext>
                  </a:extLst>
                </a:gridCol>
                <a:gridCol w="1776076">
                  <a:extLst>
                    <a:ext uri="{9D8B030D-6E8A-4147-A177-3AD203B41FA5}">
                      <a16:colId xmlns:a16="http://schemas.microsoft.com/office/drawing/2014/main" val="388864635"/>
                    </a:ext>
                  </a:extLst>
                </a:gridCol>
              </a:tblGrid>
              <a:tr h="293167">
                <a:tc>
                  <a:txBody>
                    <a:bodyPr/>
                    <a:lstStyle/>
                    <a:p>
                      <a:r>
                        <a:rPr lang="de-DE" sz="12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0% Recycelt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/>
                        <a:t>25% Recycelt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/>
                        <a:t>50% Recycelt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/>
                        <a:t>75% Recycelt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/>
                        <a:t>100% Recycelt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816777"/>
                  </a:ext>
                </a:extLst>
              </a:tr>
              <a:tr h="315897">
                <a:tc>
                  <a:txBody>
                    <a:bodyPr/>
                    <a:lstStyle/>
                    <a:p>
                      <a:r>
                        <a:rPr lang="de-DE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solidFill>
                            <a:srgbClr val="FF0000"/>
                          </a:solidFill>
                        </a:rPr>
                        <a:t>HC279 OH</a:t>
                      </a:r>
                      <a:r>
                        <a:rPr lang="de-DE" sz="1200" dirty="0"/>
                        <a:t>/</a:t>
                      </a:r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HD293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HC289 OK</a:t>
                      </a:r>
                      <a:r>
                        <a:rPr lang="de-DE" sz="1200" dirty="0"/>
                        <a:t>/</a:t>
                      </a:r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HD294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HC286 OK</a:t>
                      </a:r>
                      <a:r>
                        <a:rPr lang="de-DE" sz="1200" dirty="0"/>
                        <a:t>/</a:t>
                      </a:r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HD295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HC283 OK</a:t>
                      </a:r>
                      <a:r>
                        <a:rPr lang="de-DE" sz="1200" dirty="0"/>
                        <a:t>/</a:t>
                      </a:r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HD296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rgbClr val="FF0000"/>
                          </a:solidFill>
                        </a:rPr>
                        <a:t>HC277 OH</a:t>
                      </a:r>
                      <a:r>
                        <a:rPr lang="de-DE" sz="1200" dirty="0"/>
                        <a:t>/</a:t>
                      </a:r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HD297 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630311"/>
                  </a:ext>
                </a:extLst>
              </a:tr>
              <a:tr h="283343">
                <a:tc>
                  <a:txBody>
                    <a:bodyPr/>
                    <a:lstStyle/>
                    <a:p>
                      <a:r>
                        <a:rPr lang="de-DE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HC280 OK</a:t>
                      </a:r>
                      <a:r>
                        <a:rPr lang="de-DE" sz="1200" dirty="0"/>
                        <a:t>/ </a:t>
                      </a:r>
                      <a:r>
                        <a:rPr lang="de-DE" sz="1200" dirty="0" err="1"/>
                        <a:t>ref</a:t>
                      </a:r>
                      <a:r>
                        <a:rPr lang="de-DE" sz="1200" dirty="0"/>
                        <a:t>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HC290 OK </a:t>
                      </a:r>
                      <a:r>
                        <a:rPr lang="de-DE" sz="1200" dirty="0"/>
                        <a:t>/ </a:t>
                      </a:r>
                      <a:r>
                        <a:rPr lang="de-DE" sz="1200" dirty="0" err="1"/>
                        <a:t>ref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HC287 OK</a:t>
                      </a:r>
                      <a:r>
                        <a:rPr lang="de-DE" sz="1200" dirty="0"/>
                        <a:t>/ </a:t>
                      </a:r>
                      <a:r>
                        <a:rPr lang="de-DE" sz="1200" dirty="0" err="1"/>
                        <a:t>ref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HC284 OK</a:t>
                      </a:r>
                      <a:r>
                        <a:rPr lang="de-DE" sz="1200" dirty="0"/>
                        <a:t>/ </a:t>
                      </a:r>
                      <a:r>
                        <a:rPr lang="de-DE" sz="1200" dirty="0" err="1"/>
                        <a:t>ref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rgbClr val="FF0000"/>
                          </a:solidFill>
                        </a:rPr>
                        <a:t>HC278 OH</a:t>
                      </a:r>
                      <a:r>
                        <a:rPr lang="de-DE" sz="1200" dirty="0"/>
                        <a:t>/ </a:t>
                      </a:r>
                      <a:r>
                        <a:rPr lang="de-DE" sz="1200" dirty="0" err="1">
                          <a:solidFill>
                            <a:schemeClr val="tx1"/>
                          </a:solidFill>
                        </a:rPr>
                        <a:t>ref</a:t>
                      </a:r>
                      <a:endParaRPr lang="de-DE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629864"/>
                  </a:ext>
                </a:extLst>
              </a:tr>
              <a:tr h="315897">
                <a:tc>
                  <a:txBody>
                    <a:bodyPr/>
                    <a:lstStyle/>
                    <a:p>
                      <a:r>
                        <a:rPr lang="de-DE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dirty="0">
                          <a:solidFill>
                            <a:srgbClr val="00B050"/>
                          </a:solidFill>
                        </a:rPr>
                        <a:t>HC281 OK </a:t>
                      </a:r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HD299 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HC291 OK </a:t>
                      </a:r>
                      <a:r>
                        <a:rPr lang="de-DE" sz="1200" dirty="0"/>
                        <a:t>/ </a:t>
                      </a:r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HD320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HC288 OK</a:t>
                      </a:r>
                      <a:r>
                        <a:rPr lang="de-DE" sz="1200" dirty="0"/>
                        <a:t>/ HD318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HC285 OK/HD136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HC292 OK</a:t>
                      </a:r>
                      <a:r>
                        <a:rPr lang="de-DE" sz="1200" dirty="0"/>
                        <a:t>/ </a:t>
                      </a:r>
                      <a:r>
                        <a:rPr lang="de-DE" sz="1200" dirty="0">
                          <a:solidFill>
                            <a:schemeClr val="tx1"/>
                          </a:solidFill>
                        </a:rPr>
                        <a:t>HD298 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118189"/>
                  </a:ext>
                </a:extLst>
              </a:tr>
              <a:tr h="224987">
                <a:tc>
                  <a:txBody>
                    <a:bodyPr/>
                    <a:lstStyle/>
                    <a:p>
                      <a:r>
                        <a:rPr lang="de-DE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-- / 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HC302 OK</a:t>
                      </a:r>
                      <a:r>
                        <a:rPr lang="de-DE" sz="1200" dirty="0"/>
                        <a:t>/ HD311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HC305 OK/ HD319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HC309 OK/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HC307 OK/ HD313 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07452"/>
                  </a:ext>
                </a:extLst>
              </a:tr>
              <a:tr h="240372">
                <a:tc>
                  <a:txBody>
                    <a:bodyPr/>
                    <a:lstStyle/>
                    <a:p>
                      <a:r>
                        <a:rPr lang="de-DE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-- / --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HC303 OK/ HD312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HC304 OK</a:t>
                      </a:r>
                      <a:r>
                        <a:rPr lang="de-DE" sz="12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HC310 OK/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rgbClr val="00B050"/>
                          </a:solidFill>
                        </a:rPr>
                        <a:t>HC307 OK/ HD315 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068731"/>
                  </a:ext>
                </a:extLst>
              </a:tr>
              <a:tr h="240372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/>
                        <a:t>All </a:t>
                      </a:r>
                      <a:r>
                        <a:rPr lang="de-DE" sz="1200" dirty="0" err="1"/>
                        <a:t>results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are</a:t>
                      </a:r>
                      <a:r>
                        <a:rPr lang="de-DE" sz="1200" dirty="0"/>
                        <a:t> in </a:t>
                      </a:r>
                      <a:r>
                        <a:rPr lang="de-DE" sz="1200" dirty="0" err="1"/>
                        <a:t>the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presentation</a:t>
                      </a:r>
                      <a:r>
                        <a:rPr lang="de-DE" sz="1200" dirty="0"/>
                        <a:t> „</a:t>
                      </a:r>
                      <a:r>
                        <a:rPr lang="en-US" sz="1200" dirty="0"/>
                        <a:t>HC_and_HD_magnets_by_SPS_2.pptx” and “HC_and_HD_magnets_by_SPS_3.pptx”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(</a:t>
                      </a:r>
                      <a:r>
                        <a:rPr lang="de-DE" sz="1200" dirty="0"/>
                        <a:t>Part II </a:t>
                      </a:r>
                      <a:r>
                        <a:rPr lang="de-DE" sz="1200" dirty="0" err="1"/>
                        <a:t>contains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the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result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from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the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first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series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of</a:t>
                      </a:r>
                      <a:r>
                        <a:rPr lang="de-DE" sz="1200" dirty="0"/>
                        <a:t> HD Samples: S13, S25, S31, S41, S51 and S54)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(</a:t>
                      </a:r>
                      <a:r>
                        <a:rPr lang="de-DE" sz="1200" dirty="0"/>
                        <a:t>Part III </a:t>
                      </a:r>
                      <a:r>
                        <a:rPr lang="de-DE" sz="1200" dirty="0" err="1"/>
                        <a:t>contains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the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result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from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the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second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series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of</a:t>
                      </a:r>
                      <a:r>
                        <a:rPr lang="de-DE" sz="1200" dirty="0"/>
                        <a:t> HD Samples: S13, S23, S34, S43, S55)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2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42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1494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B216-627D-4682-BF53-FB825A78C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Pure 01082023 Samples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88922B-AC68-47D6-B79C-4DC94FBDF8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8521885"/>
              </p:ext>
            </p:extLst>
          </p:nvPr>
        </p:nvGraphicFramePr>
        <p:xfrm>
          <a:off x="838200" y="1825625"/>
          <a:ext cx="10734599" cy="2859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4050112255"/>
                    </a:ext>
                  </a:extLst>
                </a:gridCol>
                <a:gridCol w="805343">
                  <a:extLst>
                    <a:ext uri="{9D8B030D-6E8A-4147-A177-3AD203B41FA5}">
                      <a16:colId xmlns:a16="http://schemas.microsoft.com/office/drawing/2014/main" val="2149293014"/>
                    </a:ext>
                  </a:extLst>
                </a:gridCol>
                <a:gridCol w="625431">
                  <a:extLst>
                    <a:ext uri="{9D8B030D-6E8A-4147-A177-3AD203B41FA5}">
                      <a16:colId xmlns:a16="http://schemas.microsoft.com/office/drawing/2014/main" val="1422494592"/>
                    </a:ext>
                  </a:extLst>
                </a:gridCol>
                <a:gridCol w="2663053">
                  <a:extLst>
                    <a:ext uri="{9D8B030D-6E8A-4147-A177-3AD203B41FA5}">
                      <a16:colId xmlns:a16="http://schemas.microsoft.com/office/drawing/2014/main" val="453492073"/>
                    </a:ext>
                  </a:extLst>
                </a:gridCol>
                <a:gridCol w="6102292">
                  <a:extLst>
                    <a:ext uri="{9D8B030D-6E8A-4147-A177-3AD203B41FA5}">
                      <a16:colId xmlns:a16="http://schemas.microsoft.com/office/drawing/2014/main" val="2417067486"/>
                    </a:ext>
                  </a:extLst>
                </a:gridCol>
              </a:tblGrid>
              <a:tr h="285997">
                <a:tc>
                  <a:txBody>
                    <a:bodyPr/>
                    <a:lstStyle/>
                    <a:p>
                      <a:r>
                        <a:rPr lang="de-DE" sz="800" dirty="0"/>
                        <a:t>Sample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HC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HD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notes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179406"/>
                  </a:ext>
                </a:extLst>
              </a:tr>
              <a:tr h="285997">
                <a:tc>
                  <a:txBody>
                    <a:bodyPr/>
                    <a:lstStyle/>
                    <a:p>
                      <a:r>
                        <a:rPr lang="de-DE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Sample </a:t>
                      </a:r>
                      <a:r>
                        <a:rPr lang="de-DE" sz="1000" dirty="0" err="1"/>
                        <a:t>killed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115727"/>
                  </a:ext>
                </a:extLst>
              </a:tr>
              <a:tr h="285997">
                <a:tc>
                  <a:txBody>
                    <a:bodyPr/>
                    <a:lstStyle/>
                    <a:p>
                      <a:r>
                        <a:rPr lang="de-DE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no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/>
                        <a:t>Ref</a:t>
                      </a:r>
                      <a:r>
                        <a:rPr lang="de-DE" sz="1000" dirty="0"/>
                        <a:t> sample </a:t>
                      </a:r>
                      <a:r>
                        <a:rPr lang="de-DE" sz="1000" dirty="0" err="1"/>
                        <a:t>for</a:t>
                      </a:r>
                      <a:r>
                        <a:rPr lang="de-DE" sz="1000" dirty="0"/>
                        <a:t> HC @ 750°C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852336"/>
                  </a:ext>
                </a:extLst>
              </a:tr>
              <a:tr h="285997">
                <a:tc>
                  <a:txBody>
                    <a:bodyPr/>
                    <a:lstStyle/>
                    <a:p>
                      <a:r>
                        <a:rPr lang="de-DE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HD @ 825°C, HCS not </a:t>
                      </a:r>
                      <a:r>
                        <a:rPr lang="de-DE" sz="1000" dirty="0" err="1"/>
                        <a:t>full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dense</a:t>
                      </a:r>
                      <a:r>
                        <a:rPr lang="de-DE" sz="1000" dirty="0"/>
                        <a:t>!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307775"/>
                  </a:ext>
                </a:extLst>
              </a:tr>
              <a:tr h="285997">
                <a:tc>
                  <a:txBody>
                    <a:bodyPr/>
                    <a:lstStyle/>
                    <a:p>
                      <a:r>
                        <a:rPr lang="de-DE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236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 err="1"/>
                        <a:t>no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/>
                        <a:t>Ref</a:t>
                      </a:r>
                      <a:r>
                        <a:rPr lang="de-DE" sz="1000" dirty="0"/>
                        <a:t> sample </a:t>
                      </a:r>
                      <a:r>
                        <a:rPr lang="de-DE" sz="1000" dirty="0" err="1"/>
                        <a:t>for</a:t>
                      </a:r>
                      <a:r>
                        <a:rPr lang="de-DE" sz="1000" dirty="0"/>
                        <a:t> HC @ 825°C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019597"/>
                  </a:ext>
                </a:extLst>
              </a:tr>
              <a:tr h="285997">
                <a:tc>
                  <a:txBody>
                    <a:bodyPr/>
                    <a:lstStyle/>
                    <a:p>
                      <a:r>
                        <a:rPr lang="de-DE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HD @ 825°C, HCS OH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012919"/>
                  </a:ext>
                </a:extLst>
              </a:tr>
              <a:tr h="285997">
                <a:tc>
                  <a:txBody>
                    <a:bodyPr/>
                    <a:lstStyle/>
                    <a:p>
                      <a:r>
                        <a:rPr lang="de-DE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334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/>
                        <a:t>HD @ 825°C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260098"/>
                  </a:ext>
                </a:extLst>
              </a:tr>
              <a:tr h="285997">
                <a:tc>
                  <a:txBody>
                    <a:bodyPr/>
                    <a:lstStyle/>
                    <a:p>
                      <a:r>
                        <a:rPr lang="de-DE" sz="1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/>
                        <a:t>HD @ 775°C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877841"/>
                  </a:ext>
                </a:extLst>
              </a:tr>
              <a:tr h="285997">
                <a:tc>
                  <a:txBody>
                    <a:bodyPr/>
                    <a:lstStyle/>
                    <a:p>
                      <a:r>
                        <a:rPr lang="de-DE" sz="1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HD @ 800°C, Best sample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028796"/>
                  </a:ext>
                </a:extLst>
              </a:tr>
              <a:tr h="285997">
                <a:tc gridSpan="5">
                  <a:txBody>
                    <a:bodyPr/>
                    <a:lstStyle/>
                    <a:p>
                      <a:r>
                        <a:rPr lang="de-DE" sz="1000" dirty="0"/>
                        <a:t>All </a:t>
                      </a:r>
                      <a:r>
                        <a:rPr lang="de-DE" sz="1000" dirty="0" err="1"/>
                        <a:t>results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are</a:t>
                      </a:r>
                      <a:r>
                        <a:rPr lang="de-DE" sz="1000" dirty="0"/>
                        <a:t> in </a:t>
                      </a:r>
                      <a:r>
                        <a:rPr lang="de-DE" sz="1000" dirty="0" err="1"/>
                        <a:t>the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presentation</a:t>
                      </a:r>
                      <a:r>
                        <a:rPr lang="de-DE" sz="1000" dirty="0"/>
                        <a:t> </a:t>
                      </a:r>
                      <a:r>
                        <a:rPr lang="en-US" sz="1000" dirty="0"/>
                        <a:t>HC_and_HD_magnets_by_SPS_4.pptx </a:t>
                      </a:r>
                      <a:r>
                        <a:rPr lang="de-DE" sz="1000" dirty="0"/>
                        <a:t>Part IV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876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7822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</Words>
  <Application>Microsoft Office PowerPoint</Application>
  <PresentationFormat>Widescreen</PresentationFormat>
  <Paragraphs>138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PM by SPS</vt:lpstr>
      <vt:lpstr>Pure MQU F samples</vt:lpstr>
      <vt:lpstr>Mixed MQUF + 01072023 Samples</vt:lpstr>
      <vt:lpstr>Pure 01082023 Samples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 by SPS</dc:title>
  <dc:creator>Radulov, Iliya Angelov</dc:creator>
  <cp:lastModifiedBy>Radulov, Iliya Angelov</cp:lastModifiedBy>
  <cp:revision>21</cp:revision>
  <dcterms:created xsi:type="dcterms:W3CDTF">2023-08-16T07:44:34Z</dcterms:created>
  <dcterms:modified xsi:type="dcterms:W3CDTF">2023-08-16T08:30:58Z</dcterms:modified>
</cp:coreProperties>
</file>