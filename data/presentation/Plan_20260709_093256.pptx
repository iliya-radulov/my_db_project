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6" autoAdjust="0"/>
    <p:restoredTop sz="94660"/>
  </p:normalViewPr>
  <p:slideViewPr>
    <p:cSldViewPr snapToGrid="0">
      <p:cViewPr varScale="1">
        <p:scale>
          <a:sx n="67" d="100"/>
          <a:sy n="67" d="100"/>
        </p:scale>
        <p:origin x="4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7B2A6-D9A0-410C-895E-F06744571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A461F2-0AA4-4CAD-BDB1-F7110AA17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49DA6-306A-4C23-B0E8-A372C798C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682C2-D4BC-48BE-ABFF-C47B30818EA8}" type="datetimeFigureOut">
              <a:rPr lang="en-GB" smtClean="0"/>
              <a:t>01/11/2023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73F90-04D2-46CC-A20A-7C34DEC58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13F0C-1A07-41A3-9B9A-F3AF253E1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344D6-CCD0-4AB7-9738-D47AE3B09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7369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5E9B1-0AB1-45B8-8BE3-690EBDB1F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ECC45-5F79-458C-8A02-D283083F2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62FCD-C86B-4746-9932-D2D41077F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682C2-D4BC-48BE-ABFF-C47B30818EA8}" type="datetimeFigureOut">
              <a:rPr lang="en-GB" smtClean="0"/>
              <a:t>01/11/2023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71000-CF1F-4118-80B4-B9758233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AC54C-BD28-41DA-BF4D-9E70809AF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344D6-CCD0-4AB7-9738-D47AE3B09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112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41E2F-3D8C-4908-BE26-3FD93A116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F6D5A-0C43-4584-85A7-C4687E1DD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A5760-0863-425C-BE21-316980137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682C2-D4BC-48BE-ABFF-C47B30818EA8}" type="datetimeFigureOut">
              <a:rPr lang="en-GB" smtClean="0"/>
              <a:t>01/11/2023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00E77-7019-4094-BBDC-4F74188D3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86B8D-134C-4062-9B8D-CB4586254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344D6-CCD0-4AB7-9738-D47AE3B09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082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30FD8-1714-4E75-A38C-8F94332D1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ED930-A997-4218-9593-4EC3CA349A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CFD8E8-626A-4F83-A48A-0F4E6B60D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56BF2-9BF0-4F43-A24C-6C0C0B861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682C2-D4BC-48BE-ABFF-C47B30818EA8}" type="datetimeFigureOut">
              <a:rPr lang="en-GB" smtClean="0"/>
              <a:t>01/11/2023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DC7EB-FEF6-44E4-BDCA-87ED295BD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64ED3-48DB-48BA-9F49-1F839290E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344D6-CCD0-4AB7-9738-D47AE3B09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771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5CADA-A08B-4BBA-84C4-3932069A5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BE73D-09B9-4AD2-BC20-C4D2B3645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1BAFB1-ED64-433E-B93D-055604EC23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B0CB40-5F95-41CC-AA83-D61DC5D8E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44E5A0-91C5-4A0B-AEEC-B8465E4CBE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2917BE-E709-4158-BA6C-6D3B19440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682C2-D4BC-48BE-ABFF-C47B30818EA8}" type="datetimeFigureOut">
              <a:rPr lang="en-GB" smtClean="0"/>
              <a:t>01/11/2023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9D253D-A910-4201-88EC-9A72335F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278F21-33F5-44F5-BF6D-08E26B548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344D6-CCD0-4AB7-9738-D47AE3B09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6487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EFFFE-FD3D-45F8-9D3F-CD2634EA3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CF020A-84BD-492F-9C73-F73EFADAD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682C2-D4BC-48BE-ABFF-C47B30818EA8}" type="datetimeFigureOut">
              <a:rPr lang="en-GB" smtClean="0"/>
              <a:t>01/11/2023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9D3A2-E1DE-43EB-A588-1CBF7285F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70D8F3-E7CA-4BD6-A73F-36340FB25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344D6-CCD0-4AB7-9738-D47AE3B09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4558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798FBA-8150-46BE-AF40-10E4149BF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682C2-D4BC-48BE-ABFF-C47B30818EA8}" type="datetimeFigureOut">
              <a:rPr lang="en-GB" smtClean="0"/>
              <a:t>01/11/2023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E9F4DF-051F-4930-803B-683D29EE7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D795C-8386-4785-91C4-C24D4EE3B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344D6-CCD0-4AB7-9738-D47AE3B09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646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1CE7E-1754-455C-BC7C-B803EBCD1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2396A-27DB-456E-B95D-738D8C1E1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FC1EC-36BE-47EF-B8A5-C0FC3EA6F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2CC4F2-B12B-47D9-B123-B913C7880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682C2-D4BC-48BE-ABFF-C47B30818EA8}" type="datetimeFigureOut">
              <a:rPr lang="en-GB" smtClean="0"/>
              <a:t>01/11/2023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C3606-46F8-4C40-8168-E73569EB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B7136-CF3E-4E4D-AC8B-26681ACFF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344D6-CCD0-4AB7-9738-D47AE3B09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119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5EFB-1926-4139-9072-BCB3A6E7D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C0EB7F-22F6-4E62-A419-21C8E1AEBE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4ECAC3-5034-47BF-8FD9-BC13D62E2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EBAAB1-0891-479F-897F-412C28654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682C2-D4BC-48BE-ABFF-C47B30818EA8}" type="datetimeFigureOut">
              <a:rPr lang="en-GB" smtClean="0"/>
              <a:t>01/11/2023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96808-729D-4D49-8869-BB4CA4E35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480D8-A633-46A0-BC8A-DE844707F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344D6-CCD0-4AB7-9738-D47AE3B09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247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5CEDE-9DF0-4717-878E-405A64ACB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28094-B864-4CFC-929E-0B3317F3C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C9597-3132-4A53-BBE4-1B00D1144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682C2-D4BC-48BE-ABFF-C47B30818EA8}" type="datetimeFigureOut">
              <a:rPr lang="en-GB" smtClean="0"/>
              <a:t>01/11/2023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9E157-644C-4854-9AD7-68102B970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6DFC0-47EC-41E8-989D-DD8D5F753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344D6-CCD0-4AB7-9738-D47AE3B09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2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2D8AD9-487D-4C6C-8FD8-FA83D83DBC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0F0257-E6A4-4D30-A14A-B53BC0C17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51EC3-F6B7-4C1E-A311-16363E0E6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682C2-D4BC-48BE-ABFF-C47B30818EA8}" type="datetimeFigureOut">
              <a:rPr lang="en-GB" smtClean="0"/>
              <a:t>01/11/2023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8DA3D-280B-490D-AABE-6019E0C32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E6203-0B9B-4EAC-90B1-47FC78AD6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344D6-CCD0-4AB7-9738-D47AE3B09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321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C2B33F-65A4-456C-AF4E-A2238E0CB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724C3-5173-42FD-99A9-7DB919EFD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5A548-E719-4F72-9C2B-17729D03A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682C2-D4BC-48BE-ABFF-C47B30818EA8}" type="datetimeFigureOut">
              <a:rPr lang="en-GB" smtClean="0"/>
              <a:t>01/11/2023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4FB30-2D55-4FBD-BD52-279EF51A0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94343-53D5-4966-B437-E8AE9F9C0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344D6-CCD0-4AB7-9738-D47AE3B09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985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1BCB4D-4077-4215-8450-DB790040380A}"/>
              </a:ext>
            </a:extLst>
          </p:cNvPr>
          <p:cNvSpPr txBox="1"/>
          <p:nvPr/>
        </p:nvSpPr>
        <p:spPr>
          <a:xfrm>
            <a:off x="617935" y="752772"/>
            <a:ext cx="6093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For HC use 10 mm graphite die (R7710) and 5 g of powder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For HD use 20 mm graphite die (R7710</a:t>
            </a:r>
            <a:r>
              <a:rPr lang="en-GB" sz="180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6E2636-F60B-4697-81E6-88738E065C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7811842"/>
              </p:ext>
            </p:extLst>
          </p:nvPr>
        </p:nvGraphicFramePr>
        <p:xfrm>
          <a:off x="510746" y="1738184"/>
          <a:ext cx="11211698" cy="3994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4468">
                  <a:extLst>
                    <a:ext uri="{9D8B030D-6E8A-4147-A177-3AD203B41FA5}">
                      <a16:colId xmlns:a16="http://schemas.microsoft.com/office/drawing/2014/main" val="2922457568"/>
                    </a:ext>
                  </a:extLst>
                </a:gridCol>
                <a:gridCol w="2079446">
                  <a:extLst>
                    <a:ext uri="{9D8B030D-6E8A-4147-A177-3AD203B41FA5}">
                      <a16:colId xmlns:a16="http://schemas.microsoft.com/office/drawing/2014/main" val="3775320621"/>
                    </a:ext>
                  </a:extLst>
                </a:gridCol>
                <a:gridCol w="2079446">
                  <a:extLst>
                    <a:ext uri="{9D8B030D-6E8A-4147-A177-3AD203B41FA5}">
                      <a16:colId xmlns:a16="http://schemas.microsoft.com/office/drawing/2014/main" val="3544006182"/>
                    </a:ext>
                  </a:extLst>
                </a:gridCol>
                <a:gridCol w="2079446">
                  <a:extLst>
                    <a:ext uri="{9D8B030D-6E8A-4147-A177-3AD203B41FA5}">
                      <a16:colId xmlns:a16="http://schemas.microsoft.com/office/drawing/2014/main" val="241546626"/>
                    </a:ext>
                  </a:extLst>
                </a:gridCol>
                <a:gridCol w="2079446">
                  <a:extLst>
                    <a:ext uri="{9D8B030D-6E8A-4147-A177-3AD203B41FA5}">
                      <a16:colId xmlns:a16="http://schemas.microsoft.com/office/drawing/2014/main" val="241509179"/>
                    </a:ext>
                  </a:extLst>
                </a:gridCol>
                <a:gridCol w="2079446">
                  <a:extLst>
                    <a:ext uri="{9D8B030D-6E8A-4147-A177-3AD203B41FA5}">
                      <a16:colId xmlns:a16="http://schemas.microsoft.com/office/drawing/2014/main" val="388864635"/>
                    </a:ext>
                  </a:extLst>
                </a:gridCol>
              </a:tblGrid>
              <a:tr h="581086">
                <a:tc>
                  <a:txBody>
                    <a:bodyPr/>
                    <a:lstStyle/>
                    <a:p>
                      <a:r>
                        <a:rPr lang="en-GB" sz="1200" noProof="0" dirty="0">
                          <a:latin typeface="+mn-lt"/>
                          <a:cs typeface="Calibri" panose="020F0502020204030204" pitchFamily="34" charset="0"/>
                        </a:rPr>
                        <a:t>Recycled</a:t>
                      </a: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GB" sz="1200" noProof="0" dirty="0">
                          <a:latin typeface="+mn-lt"/>
                          <a:cs typeface="Calibri" panose="020F0502020204030204" pitchFamily="34" charset="0"/>
                        </a:rPr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816777"/>
                  </a:ext>
                </a:extLst>
              </a:tr>
              <a:tr h="1385955">
                <a:tc>
                  <a:txBody>
                    <a:bodyPr/>
                    <a:lstStyle/>
                    <a:p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HC</a:t>
                      </a:r>
                      <a:endParaRPr lang="de-DE" sz="1200" baseline="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8 min </a:t>
                      </a:r>
                      <a:r>
                        <a:rPr lang="de-DE" sz="1200" dirty="0" err="1">
                          <a:latin typeface="+mn-lt"/>
                          <a:cs typeface="Calibri" panose="020F0502020204030204" pitchFamily="34" charset="0"/>
                        </a:rPr>
                        <a:t>to</a:t>
                      </a: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 650°C </a:t>
                      </a:r>
                      <a:r>
                        <a:rPr lang="de-DE" sz="1200" dirty="0">
                          <a:latin typeface="+mn-lt"/>
                        </a:rPr>
                        <a:t>(ca. 75°C /min)</a:t>
                      </a:r>
                      <a:endParaRPr lang="de-DE" sz="1200" dirty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endParaRPr lang="de-DE" sz="1200" dirty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1 min </a:t>
                      </a:r>
                      <a:r>
                        <a:rPr lang="de-DE" sz="1200" dirty="0" err="1">
                          <a:latin typeface="+mn-lt"/>
                          <a:cs typeface="Calibri" panose="020F0502020204030204" pitchFamily="34" charset="0"/>
                        </a:rPr>
                        <a:t>to</a:t>
                      </a: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 725°C (ca. 75°C /min)</a:t>
                      </a:r>
                    </a:p>
                    <a:p>
                      <a:endParaRPr lang="de-DE" sz="1200" dirty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1 min @ 725°C press </a:t>
                      </a:r>
                      <a:r>
                        <a:rPr lang="de-DE" sz="1200" dirty="0" err="1">
                          <a:latin typeface="+mn-lt"/>
                          <a:cs typeface="Calibri" panose="020F0502020204030204" pitchFamily="34" charset="0"/>
                        </a:rPr>
                        <a:t>to</a:t>
                      </a: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 45MPa (3.9kN)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8 min </a:t>
                      </a:r>
                      <a:r>
                        <a:rPr lang="de-DE" sz="1200" dirty="0" err="1">
                          <a:latin typeface="+mn-lt"/>
                          <a:cs typeface="Calibri" panose="020F0502020204030204" pitchFamily="34" charset="0"/>
                        </a:rPr>
                        <a:t>to</a:t>
                      </a: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 650°C </a:t>
                      </a:r>
                      <a:r>
                        <a:rPr lang="de-DE" sz="1200" dirty="0">
                          <a:latin typeface="+mn-lt"/>
                        </a:rPr>
                        <a:t>(ca. 75°C /min)</a:t>
                      </a:r>
                      <a:endParaRPr lang="de-DE" sz="1200" dirty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1 min </a:t>
                      </a:r>
                      <a:r>
                        <a:rPr lang="de-DE" sz="1200" dirty="0" err="1">
                          <a:latin typeface="+mn-lt"/>
                          <a:cs typeface="Calibri" panose="020F0502020204030204" pitchFamily="34" charset="0"/>
                        </a:rPr>
                        <a:t>to</a:t>
                      </a: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 740°C (ca. 75°C /min)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1 min @ 740°C press </a:t>
                      </a:r>
                      <a:r>
                        <a:rPr lang="de-DE" sz="1200" dirty="0" err="1">
                          <a:latin typeface="+mn-lt"/>
                          <a:cs typeface="Calibri" panose="020F0502020204030204" pitchFamily="34" charset="0"/>
                        </a:rPr>
                        <a:t>to</a:t>
                      </a: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 45MPa (3.9kN)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8 min </a:t>
                      </a:r>
                      <a:r>
                        <a:rPr lang="de-DE" sz="1200" dirty="0" err="1">
                          <a:latin typeface="+mn-lt"/>
                          <a:cs typeface="Calibri" panose="020F0502020204030204" pitchFamily="34" charset="0"/>
                        </a:rPr>
                        <a:t>to</a:t>
                      </a: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 650°C </a:t>
                      </a:r>
                      <a:r>
                        <a:rPr lang="de-DE" sz="1200" dirty="0">
                          <a:latin typeface="+mn-lt"/>
                        </a:rPr>
                        <a:t>(ca. 75°C /min)</a:t>
                      </a:r>
                      <a:endParaRPr lang="de-DE" sz="1200" dirty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1.5 min </a:t>
                      </a:r>
                      <a:r>
                        <a:rPr lang="de-DE" sz="1200" dirty="0" err="1">
                          <a:latin typeface="+mn-lt"/>
                          <a:cs typeface="Calibri" panose="020F0502020204030204" pitchFamily="34" charset="0"/>
                        </a:rPr>
                        <a:t>to</a:t>
                      </a: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 760°C (ca. 75°C /min)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1 min @ 760°C press </a:t>
                      </a:r>
                      <a:r>
                        <a:rPr lang="de-DE" sz="1200" dirty="0" err="1">
                          <a:latin typeface="+mn-lt"/>
                          <a:cs typeface="Calibri" panose="020F0502020204030204" pitchFamily="34" charset="0"/>
                        </a:rPr>
                        <a:t>to</a:t>
                      </a: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 45MPa (3.9kN)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8 min </a:t>
                      </a:r>
                      <a:r>
                        <a:rPr lang="de-DE" sz="1200" dirty="0" err="1">
                          <a:latin typeface="+mn-lt"/>
                          <a:cs typeface="Calibri" panose="020F0502020204030204" pitchFamily="34" charset="0"/>
                        </a:rPr>
                        <a:t>to</a:t>
                      </a: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 650°C </a:t>
                      </a:r>
                      <a:r>
                        <a:rPr lang="de-DE" sz="1200" dirty="0">
                          <a:latin typeface="+mn-lt"/>
                        </a:rPr>
                        <a:t>(ca. 75°C /min)</a:t>
                      </a:r>
                      <a:endParaRPr lang="de-DE" sz="1200" dirty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1.5 min </a:t>
                      </a:r>
                      <a:r>
                        <a:rPr lang="de-DE" sz="1200" dirty="0" err="1">
                          <a:latin typeface="+mn-lt"/>
                          <a:cs typeface="Calibri" panose="020F0502020204030204" pitchFamily="34" charset="0"/>
                        </a:rPr>
                        <a:t>to</a:t>
                      </a: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 780°C (ca. 75°C /min)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1 min @ 780°C press </a:t>
                      </a:r>
                      <a:r>
                        <a:rPr lang="de-DE" sz="1200" dirty="0" err="1">
                          <a:latin typeface="+mn-lt"/>
                          <a:cs typeface="Calibri" panose="020F0502020204030204" pitchFamily="34" charset="0"/>
                        </a:rPr>
                        <a:t>to</a:t>
                      </a: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 45MPa (3.9kN)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8 min </a:t>
                      </a:r>
                      <a:r>
                        <a:rPr lang="de-DE" sz="1200" dirty="0" err="1">
                          <a:latin typeface="+mn-lt"/>
                          <a:cs typeface="Calibri" panose="020F0502020204030204" pitchFamily="34" charset="0"/>
                        </a:rPr>
                        <a:t>to</a:t>
                      </a: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 650°C </a:t>
                      </a:r>
                      <a:r>
                        <a:rPr lang="de-DE" sz="1200" dirty="0">
                          <a:latin typeface="+mn-lt"/>
                        </a:rPr>
                        <a:t>(ca. 75°C /min)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2 min </a:t>
                      </a:r>
                      <a:r>
                        <a:rPr lang="de-DE" sz="1200" dirty="0" err="1">
                          <a:latin typeface="+mn-lt"/>
                          <a:cs typeface="Calibri" panose="020F0502020204030204" pitchFamily="34" charset="0"/>
                        </a:rPr>
                        <a:t>to</a:t>
                      </a: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 800°C (ca. 75°C /min)</a:t>
                      </a:r>
                    </a:p>
                    <a:p>
                      <a:endParaRPr lang="de-DE" sz="1200" dirty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1 min @ 800°C press </a:t>
                      </a:r>
                      <a:r>
                        <a:rPr lang="de-DE" sz="1200" dirty="0" err="1">
                          <a:latin typeface="+mn-lt"/>
                          <a:cs typeface="Calibri" panose="020F0502020204030204" pitchFamily="34" charset="0"/>
                        </a:rPr>
                        <a:t>to</a:t>
                      </a:r>
                      <a:r>
                        <a:rPr lang="de-DE" sz="1200" dirty="0">
                          <a:latin typeface="+mn-lt"/>
                          <a:cs typeface="Calibri" panose="020F0502020204030204" pitchFamily="34" charset="0"/>
                        </a:rPr>
                        <a:t> 45MPa (3.9kN)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baseline="300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630311"/>
                  </a:ext>
                </a:extLst>
              </a:tr>
              <a:tr h="1733127">
                <a:tc>
                  <a:txBody>
                    <a:bodyPr/>
                    <a:lstStyle/>
                    <a:p>
                      <a:r>
                        <a:rPr lang="de-DE" sz="1200" baseline="0" dirty="0">
                          <a:latin typeface="+mn-lt"/>
                          <a:cs typeface="Calibri" panose="020F0502020204030204" pitchFamily="34" charset="0"/>
                        </a:rPr>
                        <a:t>HD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latin typeface="+mn-lt"/>
                        </a:rPr>
                        <a:t>8 min </a:t>
                      </a:r>
                      <a:r>
                        <a:rPr lang="de-DE" sz="1200" dirty="0" err="1">
                          <a:latin typeface="+mn-lt"/>
                        </a:rPr>
                        <a:t>to</a:t>
                      </a:r>
                      <a:r>
                        <a:rPr lang="de-DE" sz="1200" dirty="0">
                          <a:latin typeface="+mn-lt"/>
                        </a:rPr>
                        <a:t> 600°C (ca. 75°C /min)</a:t>
                      </a:r>
                    </a:p>
                    <a:p>
                      <a:endParaRPr lang="de-DE" sz="1200" dirty="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latin typeface="+mn-lt"/>
                        </a:rPr>
                        <a:t>2 min </a:t>
                      </a:r>
                      <a:r>
                        <a:rPr lang="de-DE" sz="1200" dirty="0" err="1">
                          <a:latin typeface="+mn-lt"/>
                        </a:rPr>
                        <a:t>to</a:t>
                      </a:r>
                      <a:r>
                        <a:rPr lang="de-DE" sz="1200" dirty="0">
                          <a:latin typeface="+mn-lt"/>
                        </a:rPr>
                        <a:t> 750°C and </a:t>
                      </a:r>
                      <a:r>
                        <a:rPr lang="de-DE" sz="1200" dirty="0">
                          <a:solidFill>
                            <a:schemeClr val="tx1"/>
                          </a:solidFill>
                          <a:latin typeface="+mn-lt"/>
                        </a:rPr>
                        <a:t>press </a:t>
                      </a:r>
                      <a:r>
                        <a:rPr lang="de-DE" sz="1200" dirty="0" err="1">
                          <a:solidFill>
                            <a:schemeClr val="tx1"/>
                          </a:solidFill>
                          <a:latin typeface="+mn-lt"/>
                        </a:rPr>
                        <a:t>to</a:t>
                      </a:r>
                      <a:r>
                        <a:rPr lang="de-DE" sz="1200" dirty="0">
                          <a:solidFill>
                            <a:schemeClr val="tx1"/>
                          </a:solidFill>
                          <a:latin typeface="+mn-lt"/>
                        </a:rPr>
                        <a:t> 50MPa </a:t>
                      </a:r>
                      <a:r>
                        <a:rPr lang="de-DE" sz="1200" dirty="0">
                          <a:latin typeface="+mn-lt"/>
                        </a:rPr>
                        <a:t>(ca. 75°C /min)</a:t>
                      </a:r>
                    </a:p>
                    <a:p>
                      <a:endParaRPr lang="de-DE" sz="1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r>
                        <a:rPr lang="de-DE" sz="1200" dirty="0">
                          <a:solidFill>
                            <a:srgbClr val="FF0000"/>
                          </a:solidFill>
                          <a:latin typeface="+mn-lt"/>
                        </a:rPr>
                        <a:t>2 min @ 750°C press </a:t>
                      </a:r>
                      <a:r>
                        <a:rPr lang="de-DE" sz="1200" dirty="0" err="1">
                          <a:solidFill>
                            <a:srgbClr val="FF0000"/>
                          </a:solidFill>
                          <a:latin typeface="+mn-lt"/>
                        </a:rPr>
                        <a:t>to</a:t>
                      </a:r>
                      <a:r>
                        <a:rPr lang="de-DE" sz="1200" dirty="0">
                          <a:solidFill>
                            <a:srgbClr val="FF0000"/>
                          </a:solidFill>
                          <a:latin typeface="+mn-lt"/>
                        </a:rPr>
                        <a:t> 70MPa </a:t>
                      </a:r>
                    </a:p>
                    <a:p>
                      <a:endParaRPr lang="de-DE" sz="12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latin typeface="+mn-lt"/>
                        </a:rPr>
                        <a:t>10 min </a:t>
                      </a:r>
                      <a:r>
                        <a:rPr lang="de-DE" sz="1200" dirty="0" err="1">
                          <a:latin typeface="+mn-lt"/>
                        </a:rPr>
                        <a:t>to</a:t>
                      </a:r>
                      <a:r>
                        <a:rPr lang="de-DE" sz="1200" dirty="0">
                          <a:latin typeface="+mn-lt"/>
                        </a:rPr>
                        <a:t> 750°C</a:t>
                      </a:r>
                    </a:p>
                    <a:p>
                      <a:endParaRPr lang="de-DE" sz="1200" dirty="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latin typeface="+mn-lt"/>
                        </a:rPr>
                        <a:t>2 min </a:t>
                      </a:r>
                      <a:r>
                        <a:rPr lang="de-DE" sz="1200" dirty="0" err="1">
                          <a:latin typeface="+mn-lt"/>
                        </a:rPr>
                        <a:t>to</a:t>
                      </a:r>
                      <a:r>
                        <a:rPr lang="de-DE" sz="1200" dirty="0">
                          <a:latin typeface="+mn-lt"/>
                        </a:rPr>
                        <a:t> 765°C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latin typeface="+mn-lt"/>
                        </a:rPr>
                        <a:t>2 </a:t>
                      </a:r>
                      <a:r>
                        <a:rPr lang="de-DE" sz="1200" dirty="0">
                          <a:solidFill>
                            <a:schemeClr val="tx1"/>
                          </a:solidFill>
                          <a:latin typeface="+mn-lt"/>
                        </a:rPr>
                        <a:t>press </a:t>
                      </a:r>
                      <a:r>
                        <a:rPr lang="de-DE" sz="1200" dirty="0" err="1">
                          <a:solidFill>
                            <a:schemeClr val="tx1"/>
                          </a:solidFill>
                          <a:latin typeface="+mn-lt"/>
                        </a:rPr>
                        <a:t>to</a:t>
                      </a:r>
                      <a:r>
                        <a:rPr lang="de-DE" sz="1200" dirty="0">
                          <a:solidFill>
                            <a:schemeClr val="tx1"/>
                          </a:solidFill>
                          <a:latin typeface="+mn-lt"/>
                        </a:rPr>
                        <a:t> 50MPa </a:t>
                      </a:r>
                      <a:endParaRPr lang="de-DE" sz="1200" dirty="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latin typeface="+mn-lt"/>
                      </a:endParaRPr>
                    </a:p>
                    <a:p>
                      <a:r>
                        <a:rPr lang="de-DE" sz="1200" dirty="0">
                          <a:solidFill>
                            <a:srgbClr val="FF0000"/>
                          </a:solidFill>
                          <a:latin typeface="+mn-lt"/>
                        </a:rPr>
                        <a:t>2 min press </a:t>
                      </a:r>
                      <a:r>
                        <a:rPr lang="de-DE" sz="1200" dirty="0" err="1">
                          <a:solidFill>
                            <a:srgbClr val="FF0000"/>
                          </a:solidFill>
                          <a:latin typeface="+mn-lt"/>
                        </a:rPr>
                        <a:t>to</a:t>
                      </a:r>
                      <a:r>
                        <a:rPr lang="de-DE" sz="1200" dirty="0">
                          <a:solidFill>
                            <a:srgbClr val="FF0000"/>
                          </a:solidFill>
                          <a:latin typeface="+mn-lt"/>
                        </a:rPr>
                        <a:t> 70MPa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latin typeface="+mn-lt"/>
                        </a:rPr>
                        <a:t>10 min </a:t>
                      </a:r>
                      <a:r>
                        <a:rPr lang="de-DE" sz="1200" dirty="0" err="1">
                          <a:latin typeface="+mn-lt"/>
                        </a:rPr>
                        <a:t>to</a:t>
                      </a:r>
                      <a:r>
                        <a:rPr lang="de-DE" sz="1200" dirty="0">
                          <a:latin typeface="+mn-lt"/>
                        </a:rPr>
                        <a:t> 750°C</a:t>
                      </a:r>
                    </a:p>
                    <a:p>
                      <a:endParaRPr lang="de-DE" sz="1200" dirty="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latin typeface="+mn-lt"/>
                        </a:rPr>
                        <a:t>2 min </a:t>
                      </a:r>
                      <a:r>
                        <a:rPr lang="de-DE" sz="1200" dirty="0" err="1">
                          <a:latin typeface="+mn-lt"/>
                        </a:rPr>
                        <a:t>to</a:t>
                      </a:r>
                      <a:r>
                        <a:rPr lang="de-DE" sz="1200" dirty="0">
                          <a:latin typeface="+mn-lt"/>
                        </a:rPr>
                        <a:t> 785°C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latin typeface="+mn-lt"/>
                        </a:rPr>
                        <a:t>2 min press </a:t>
                      </a:r>
                      <a:r>
                        <a:rPr lang="de-DE" sz="1200" dirty="0" err="1">
                          <a:solidFill>
                            <a:schemeClr val="tx1"/>
                          </a:solidFill>
                          <a:latin typeface="+mn-lt"/>
                        </a:rPr>
                        <a:t>to</a:t>
                      </a:r>
                      <a:r>
                        <a:rPr lang="de-DE" sz="1200" dirty="0">
                          <a:solidFill>
                            <a:schemeClr val="tx1"/>
                          </a:solidFill>
                          <a:latin typeface="+mn-lt"/>
                        </a:rPr>
                        <a:t> 50MPa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r>
                        <a:rPr lang="de-DE" sz="1200" dirty="0">
                          <a:solidFill>
                            <a:srgbClr val="FF0000"/>
                          </a:solidFill>
                          <a:latin typeface="+mn-lt"/>
                        </a:rPr>
                        <a:t>2 min press </a:t>
                      </a:r>
                      <a:r>
                        <a:rPr lang="de-DE" sz="1200" dirty="0" err="1">
                          <a:solidFill>
                            <a:srgbClr val="FF0000"/>
                          </a:solidFill>
                          <a:latin typeface="+mn-lt"/>
                        </a:rPr>
                        <a:t>to</a:t>
                      </a:r>
                      <a:r>
                        <a:rPr lang="de-DE" sz="1200" dirty="0">
                          <a:solidFill>
                            <a:srgbClr val="FF0000"/>
                          </a:solidFill>
                          <a:latin typeface="+mn-lt"/>
                        </a:rPr>
                        <a:t> 70MPa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latin typeface="+mn-lt"/>
                        </a:rPr>
                        <a:t>10 min </a:t>
                      </a:r>
                      <a:r>
                        <a:rPr lang="de-DE" sz="1200" dirty="0" err="1">
                          <a:latin typeface="+mn-lt"/>
                        </a:rPr>
                        <a:t>to</a:t>
                      </a:r>
                      <a:r>
                        <a:rPr lang="de-DE" sz="1200" dirty="0">
                          <a:latin typeface="+mn-lt"/>
                        </a:rPr>
                        <a:t> 750°C</a:t>
                      </a:r>
                    </a:p>
                    <a:p>
                      <a:endParaRPr lang="de-DE" sz="1200" dirty="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latin typeface="+mn-lt"/>
                        </a:rPr>
                        <a:t>2 min </a:t>
                      </a:r>
                      <a:r>
                        <a:rPr lang="de-DE" sz="1200" dirty="0" err="1">
                          <a:latin typeface="+mn-lt"/>
                        </a:rPr>
                        <a:t>to</a:t>
                      </a:r>
                      <a:r>
                        <a:rPr lang="de-DE" sz="1200" dirty="0">
                          <a:latin typeface="+mn-lt"/>
                        </a:rPr>
                        <a:t> 805°C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tx1"/>
                          </a:solidFill>
                          <a:latin typeface="+mn-lt"/>
                        </a:rPr>
                        <a:t>2 min press </a:t>
                      </a:r>
                      <a:r>
                        <a:rPr lang="de-DE" sz="1200" dirty="0" err="1">
                          <a:solidFill>
                            <a:schemeClr val="tx1"/>
                          </a:solidFill>
                          <a:latin typeface="+mn-lt"/>
                        </a:rPr>
                        <a:t>to</a:t>
                      </a:r>
                      <a:r>
                        <a:rPr lang="de-DE" sz="1200" dirty="0">
                          <a:solidFill>
                            <a:schemeClr val="tx1"/>
                          </a:solidFill>
                          <a:latin typeface="+mn-lt"/>
                        </a:rPr>
                        <a:t> 50MPa</a:t>
                      </a:r>
                      <a:endParaRPr lang="de-DE" sz="1200" dirty="0">
                        <a:latin typeface="+mn-lt"/>
                      </a:endParaRPr>
                    </a:p>
                    <a:p>
                      <a:endParaRPr lang="de-DE" sz="1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r>
                        <a:rPr lang="de-DE" sz="1200" dirty="0">
                          <a:solidFill>
                            <a:srgbClr val="FF0000"/>
                          </a:solidFill>
                          <a:latin typeface="+mn-lt"/>
                        </a:rPr>
                        <a:t>2 min press </a:t>
                      </a:r>
                      <a:r>
                        <a:rPr lang="de-DE" sz="1200" dirty="0" err="1">
                          <a:solidFill>
                            <a:srgbClr val="FF0000"/>
                          </a:solidFill>
                          <a:latin typeface="+mn-lt"/>
                        </a:rPr>
                        <a:t>to</a:t>
                      </a:r>
                      <a:r>
                        <a:rPr lang="de-DE" sz="1200" dirty="0">
                          <a:solidFill>
                            <a:srgbClr val="FF0000"/>
                          </a:solidFill>
                          <a:latin typeface="+mn-lt"/>
                        </a:rPr>
                        <a:t> 70MPa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latin typeface="+mn-lt"/>
                        </a:rPr>
                        <a:t>8 min </a:t>
                      </a:r>
                      <a:r>
                        <a:rPr lang="de-DE" sz="1200" dirty="0" err="1">
                          <a:latin typeface="+mn-lt"/>
                        </a:rPr>
                        <a:t>to</a:t>
                      </a:r>
                      <a:r>
                        <a:rPr lang="de-DE" sz="1200" dirty="0">
                          <a:latin typeface="+mn-lt"/>
                        </a:rPr>
                        <a:t> 600°C (ca. 75°C /min)</a:t>
                      </a:r>
                    </a:p>
                    <a:p>
                      <a:endParaRPr lang="de-DE" sz="1200" dirty="0">
                        <a:latin typeface="+mn-lt"/>
                      </a:endParaRPr>
                    </a:p>
                    <a:p>
                      <a:r>
                        <a:rPr lang="de-DE" sz="1200" dirty="0">
                          <a:latin typeface="+mn-lt"/>
                        </a:rPr>
                        <a:t>2 min </a:t>
                      </a:r>
                      <a:r>
                        <a:rPr lang="de-DE" sz="1200" dirty="0" err="1">
                          <a:latin typeface="+mn-lt"/>
                        </a:rPr>
                        <a:t>to</a:t>
                      </a:r>
                      <a:r>
                        <a:rPr lang="de-DE" sz="1200" dirty="0">
                          <a:latin typeface="+mn-lt"/>
                        </a:rPr>
                        <a:t> 750°C (ca. 75°C /min)</a:t>
                      </a:r>
                    </a:p>
                    <a:p>
                      <a:endParaRPr lang="de-DE" sz="1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r>
                        <a:rPr lang="de-DE" sz="1200" dirty="0">
                          <a:solidFill>
                            <a:srgbClr val="FF0000"/>
                          </a:solidFill>
                          <a:latin typeface="+mn-lt"/>
                        </a:rPr>
                        <a:t>2 min </a:t>
                      </a:r>
                      <a:r>
                        <a:rPr lang="de-DE" sz="1200" dirty="0" err="1">
                          <a:solidFill>
                            <a:srgbClr val="FF0000"/>
                          </a:solidFill>
                          <a:latin typeface="+mn-lt"/>
                        </a:rPr>
                        <a:t>to</a:t>
                      </a:r>
                      <a:r>
                        <a:rPr lang="de-DE" sz="1200" dirty="0">
                          <a:solidFill>
                            <a:srgbClr val="FF0000"/>
                          </a:solidFill>
                          <a:latin typeface="+mn-lt"/>
                        </a:rPr>
                        <a:t> 800°C press </a:t>
                      </a:r>
                      <a:r>
                        <a:rPr lang="de-DE" sz="1200" dirty="0" err="1">
                          <a:solidFill>
                            <a:srgbClr val="FF0000"/>
                          </a:solidFill>
                          <a:latin typeface="+mn-lt"/>
                        </a:rPr>
                        <a:t>to</a:t>
                      </a:r>
                      <a:r>
                        <a:rPr lang="de-DE" sz="1200" dirty="0">
                          <a:solidFill>
                            <a:srgbClr val="FF0000"/>
                          </a:solidFill>
                          <a:latin typeface="+mn-lt"/>
                        </a:rPr>
                        <a:t> 50MPa</a:t>
                      </a:r>
                    </a:p>
                    <a:p>
                      <a:endParaRPr lang="de-DE" sz="12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r>
                        <a:rPr lang="de-DE" sz="1200" dirty="0">
                          <a:solidFill>
                            <a:srgbClr val="FF0000"/>
                          </a:solidFill>
                          <a:latin typeface="+mn-lt"/>
                        </a:rPr>
                        <a:t>2 min @ 825°C press </a:t>
                      </a:r>
                      <a:r>
                        <a:rPr lang="de-DE" sz="1200" dirty="0" err="1">
                          <a:solidFill>
                            <a:srgbClr val="FF0000"/>
                          </a:solidFill>
                          <a:latin typeface="+mn-lt"/>
                        </a:rPr>
                        <a:t>to</a:t>
                      </a:r>
                      <a:r>
                        <a:rPr lang="de-DE" sz="1200" dirty="0">
                          <a:solidFill>
                            <a:srgbClr val="FF0000"/>
                          </a:solidFill>
                          <a:latin typeface="+mn-lt"/>
                        </a:rPr>
                        <a:t> 70MPa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baseline="300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18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3647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</Words>
  <Application>Microsoft Office PowerPoint</Application>
  <PresentationFormat>Widescreen</PresentationFormat>
  <Paragraphs>68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Radulov, Iliya Angelov</dc:creator>
  <cp:lastModifiedBy>Radulov, Iliya Angelov</cp:lastModifiedBy>
  <cp:revision>8</cp:revision>
  <dcterms:created xsi:type="dcterms:W3CDTF">2023-10-30T13:52:18Z</dcterms:created>
  <dcterms:modified xsi:type="dcterms:W3CDTF">2023-11-01T10:23:47Z</dcterms:modified>
</cp:coreProperties>
</file>